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87" d="100"/>
          <a:sy n="187" d="100"/>
        </p:scale>
        <p:origin x="156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2107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920240"/>
            <a:ext cx="9144000" cy="1600200"/>
          </a:xfrm>
          <a:prstGeom prst="rect">
            <a:avLst/>
          </a:prstGeom>
          <a:solidFill>
            <a:srgbClr val="091525"/>
          </a:solidFill>
          <a:ln w="12700">
            <a:solidFill>
              <a:srgbClr val="09152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1920240"/>
            <a:ext cx="128016" cy="16002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1901952"/>
            <a:ext cx="822960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457200" y="3538728"/>
            <a:ext cx="822960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Fragment Exact-Mass Calculator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Algorithms, Filters &amp; Fragmentation Rules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188720" y="379476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06B6D4">
              <a:alpha val="2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1188720" y="37947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Post-Filters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66160" y="379476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FB923C">
              <a:alpha val="20000"/>
            </a:srgbClr>
          </a:solidFill>
          <a:ln w="1270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3566160" y="37947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Branch-and-Bound Enum.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0" y="379476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A78BFA">
              <a:alpha val="20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5943600" y="37947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Fragmentation Rules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Implementation — Python / Open Source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91525"/>
          </a:solidFill>
          <a:ln w="12700">
            <a:solidFill>
              <a:srgbClr val="09152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Pipeline Overview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28600" y="4956048"/>
            <a:ext cx="8686800" cy="0"/>
          </a:xfrm>
          <a:prstGeom prst="line">
            <a:avLst/>
          </a:prstGeom>
          <a:noFill/>
          <a:ln w="63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228600" y="47731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Fragment Exact-Mass Calculator  |  Python / Open Source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0040" y="987552"/>
            <a:ext cx="8503920" cy="498348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84048" y="1069848"/>
            <a:ext cx="338328" cy="338328"/>
          </a:xfrm>
          <a:prstGeom prst="ellipse">
            <a:avLst/>
          </a:prstGeom>
          <a:solidFill>
            <a:srgbClr val="06B6D4">
              <a:alpha val="8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384048" y="106984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987552"/>
            <a:ext cx="301752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SDF Input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749040" y="987552"/>
            <a:ext cx="484632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molecular formula + EI mass spectrum peaks from SDF file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1517904"/>
            <a:ext cx="8503920" cy="498348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384048" y="1600200"/>
            <a:ext cx="338328" cy="338328"/>
          </a:xfrm>
          <a:prstGeom prst="ellipse">
            <a:avLst/>
          </a:prstGeom>
          <a:solidFill>
            <a:srgbClr val="0891B2">
              <a:alpha val="80000"/>
            </a:srgbClr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384048" y="160020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1517904"/>
            <a:ext cx="301752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Electron-Mass Correction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749040" y="1517904"/>
            <a:ext cx="484632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measured m/z to neutral mass target (EI+/EI−/none)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2048256"/>
            <a:ext cx="8503920" cy="498348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384048" y="2130552"/>
            <a:ext cx="338328" cy="338328"/>
          </a:xfrm>
          <a:prstGeom prst="ellipse">
            <a:avLst/>
          </a:prstGeom>
          <a:solidFill>
            <a:srgbClr val="FB923C">
              <a:alpha val="80000"/>
            </a:srgbClr>
          </a:solidFill>
          <a:ln w="1270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384048" y="213055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2048256"/>
            <a:ext cx="301752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Branch-and-Bound Enumeration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749040" y="2048256"/>
            <a:ext cx="484632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all valid candidate elemental compositions (heaviest-first pruning)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2578608"/>
            <a:ext cx="8503920" cy="498348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384048" y="2660904"/>
            <a:ext cx="338328" cy="338328"/>
          </a:xfrm>
          <a:prstGeom prst="ellipse">
            <a:avLst/>
          </a:prstGeom>
          <a:solidFill>
            <a:srgbClr val="EF4444">
              <a:alpha val="80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384048" y="266090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578608"/>
            <a:ext cx="301752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Pipeline (Filters 1–6)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749040" y="2578608"/>
            <a:ext cx="484632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chemically implausible candidates (nitrogen rule, DBE, valence…)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108960"/>
            <a:ext cx="8503920" cy="498348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Shape 27"/>
          <p:cNvSpPr/>
          <p:nvPr/>
        </p:nvSpPr>
        <p:spPr>
          <a:xfrm>
            <a:off x="384048" y="3191256"/>
            <a:ext cx="338328" cy="338328"/>
          </a:xfrm>
          <a:prstGeom prst="ellipse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8"/>
          <p:cNvSpPr/>
          <p:nvPr/>
        </p:nvSpPr>
        <p:spPr>
          <a:xfrm>
            <a:off x="384048" y="319125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" y="3108960"/>
            <a:ext cx="301752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Fragmentation Rule Annotation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749040" y="3108960"/>
            <a:ext cx="484632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candidates with known EI pathways — Tier 1 (neutral loss) &amp; Tier 2 (structure)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0040" y="3639312"/>
            <a:ext cx="8503920" cy="498348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Shape 32"/>
          <p:cNvSpPr/>
          <p:nvPr/>
        </p:nvSpPr>
        <p:spPr>
          <a:xfrm>
            <a:off x="384048" y="3721608"/>
            <a:ext cx="338328" cy="338328"/>
          </a:xfrm>
          <a:prstGeom prst="ellipse">
            <a:avLst/>
          </a:prstGeom>
          <a:solidFill>
            <a:srgbClr val="FACC15">
              <a:alpha val="80000"/>
            </a:srgbClr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Text 33"/>
          <p:cNvSpPr/>
          <p:nvPr/>
        </p:nvSpPr>
        <p:spPr>
          <a:xfrm>
            <a:off x="384048" y="372160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22960" y="3639312"/>
            <a:ext cx="301752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749040" y="3639312"/>
            <a:ext cx="484632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filter pass status → mass accuracy → isotope score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320040" y="4169664"/>
            <a:ext cx="8503920" cy="498348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Shape 37"/>
          <p:cNvSpPr/>
          <p:nvPr/>
        </p:nvSpPr>
        <p:spPr>
          <a:xfrm>
            <a:off x="384048" y="4251960"/>
            <a:ext cx="338328" cy="338328"/>
          </a:xfrm>
          <a:prstGeom prst="ellipse">
            <a:avLst/>
          </a:prstGeom>
          <a:solidFill>
            <a:srgbClr val="22C55E">
              <a:alpha val="80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Text 38"/>
          <p:cNvSpPr/>
          <p:nvPr/>
        </p:nvSpPr>
        <p:spPr>
          <a:xfrm>
            <a:off x="384048" y="425196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22960" y="4169664"/>
            <a:ext cx="301752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3749040" y="4169664"/>
            <a:ext cx="484632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 text report + enriched SDF file with all candidate formulas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91525"/>
          </a:solidFill>
          <a:ln w="12700">
            <a:solidFill>
              <a:srgbClr val="09152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Electron-Mass Correction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28600" y="4956048"/>
            <a:ext cx="8686800" cy="0"/>
          </a:xfrm>
          <a:prstGeom prst="line">
            <a:avLst/>
          </a:prstGeom>
          <a:noFill/>
          <a:ln w="63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228600" y="47731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Fragment Exact-Mass Calculator  |  Python / Open Source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4206240" cy="352044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0040" y="1051560"/>
            <a:ext cx="54864" cy="35204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57200" y="11155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Ionisation &amp; Correction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1426464"/>
            <a:ext cx="393192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+ e⁻(fast)  →  M⁺• + 2e⁻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5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measures the ion, not the neutral: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4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EI+:  m/z = Mₙₑᵤₜʳʳʳ − mₑ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EI−:  m/z = Mₙₑᵤₜʳʳʳ + mₑ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None: m/z = Mₙₑᵤₜʳʳʳ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4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mₑ = 0.000548580 Da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neutral mass (EI+):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= nominal_mz + mₑ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29768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IUPAC 2016 atomic masses; Gross (2017)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63440" y="1051560"/>
            <a:ext cx="4160520" cy="210312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4663440" y="1051560"/>
            <a:ext cx="54864" cy="210312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4800600" y="11155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Caffeine [M]⁺•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00600" y="1444752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Formula:  C₈H₁₀N₄O₂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Nominal m/z:  194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5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= 194 + 0.000549 = 194.000549 Da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mass = 194.079602 Da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|194.0796 − 194.0006| = 0.079 Da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within ±0.5 Da window  ✓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3246120"/>
          <a:ext cx="3840480" cy="59436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485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 Flag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5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EI+ (default)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--electron remove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mₑ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85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EI−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--electron add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mₑ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85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--electron 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91525"/>
          </a:solidFill>
          <a:ln w="12700">
            <a:solidFill>
              <a:srgbClr val="09152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Branch-and-Bound Formula Enumeration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28600" y="4956048"/>
            <a:ext cx="8686800" cy="0"/>
          </a:xfrm>
          <a:prstGeom prst="line">
            <a:avLst/>
          </a:prstGeom>
          <a:noFill/>
          <a:ln w="63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228600" y="47731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Fragment Exact-Mass Calculator  |  Python / Open Source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4206240" cy="196596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0040" y="1051560"/>
            <a:ext cx="54864" cy="19659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57200" y="11155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1426464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all elemental compositions CᵃHᵇNᶜ Oᵈ … whose ion mass is within ±tolerance of the observed m/z, subject to atom-conservation (fragment ≤ parent counts per element).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22860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vs. Cartesian Product: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56032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Cartesian product: ~3,000 tested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Branch-and-bound: ~12 valid found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Speedup: ~250×  for m/z 194 example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3090672"/>
            <a:ext cx="4206240" cy="150876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20040" y="3090672"/>
            <a:ext cx="54864" cy="150876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457200" y="3154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Algorithm: _enumerate_pruned()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3456432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Sort elements heaviest-first (Cl &gt; S &gt; O &gt; N &gt; C &gt; H)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Precompute max_tail[i] = max mass from index i onward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Per level: lo = ⌈(target−tol−partial−max_tail[i+1]) / mass[i]⌉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hi = ⌊(target+tol−partial) / mass[i]⌋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Prune entire subtrees where lo &gt; hi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1051560"/>
            <a:ext cx="4160520" cy="141732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4663440" y="1051560"/>
            <a:ext cx="54864" cy="14173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4800600" y="11155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 Modes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1417320"/>
          <a:ext cx="3840480" cy="53035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67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67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±0.5 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Unit-mass EI (quadrupole)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67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ppm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mz × ppm / 10⁶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Orbitrap / QTOF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891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4663440" y="2587752"/>
            <a:ext cx="4160520" cy="201168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3" name="Shape 20"/>
          <p:cNvSpPr/>
          <p:nvPr/>
        </p:nvSpPr>
        <p:spPr>
          <a:xfrm>
            <a:off x="4663440" y="2587752"/>
            <a:ext cx="54864" cy="201168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1"/>
          <p:cNvSpPr/>
          <p:nvPr/>
        </p:nvSpPr>
        <p:spPr>
          <a:xfrm>
            <a:off x="4800600" y="2651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Pruning Tree (schematic)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4800600" y="2962656"/>
            <a:ext cx="3840480" cy="1572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F0F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 (heaviest): lo=0, hi=1  [2 branches]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 Cl=0: reachable → explore ✓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 Cl=1: mass &gt; target+tol → PRUNE ✗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F0F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S: lo=0, hi=2  [3 branches] → recurse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F0F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O, N, C … continue until leaf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Leaf: emit valid formula tuple ✓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320040" y="4681728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Land A.H. &amp; Doig A.G. Econometrica 28(3):497–520 (1960) DOI:10.2307/1910129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91525"/>
          </a:solidFill>
          <a:ln w="12700">
            <a:solidFill>
              <a:srgbClr val="09152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DBE — Degree of Unsaturation (Rings + Double Bonds)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28600" y="4956048"/>
            <a:ext cx="8686800" cy="0"/>
          </a:xfrm>
          <a:prstGeom prst="line">
            <a:avLst/>
          </a:prstGeom>
          <a:noFill/>
          <a:ln w="63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228600" y="47731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Fragment Exact-Mass Calculator  |  Python / Open Source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8503920" cy="896112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0040" y="1051560"/>
            <a:ext cx="54864" cy="89611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57200" y="10972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DBE = 1 + Σᵢ  countᵢ × (valenceᵢ − 2) / 2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57200" y="160934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Valid: DBE ≥ 0  and  DBE × 2 ∈ ℤ   |   Half-integer = odd-electron ion (M⁺•)   |   Integer = even-electron 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" y="2011680"/>
            <a:ext cx="2011680" cy="114300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320040" y="2011680"/>
            <a:ext cx="201168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320040" y="206654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DBE = 0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20040" y="24871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0040" y="27706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Alkane, no rings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2011680"/>
            <a:ext cx="2011680" cy="114300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2468880" y="2011680"/>
            <a:ext cx="201168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2468880" y="206654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DBE = 1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468880" y="24871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ring or C=O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468880" y="27706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Cyclohexane / ketone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17720" y="2011680"/>
            <a:ext cx="2011680" cy="114300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4617720" y="2011680"/>
            <a:ext cx="2011680" cy="54864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4617720" y="206654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DBE = 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17720" y="24871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 ring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617720" y="27706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C₆H₆ (3 C=C + 1 ring)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766560" y="2011680"/>
            <a:ext cx="2011680" cy="114300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6766560" y="2011680"/>
            <a:ext cx="201168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6766560" y="206654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DBE = 0.5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6766560" y="24871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Odd-electron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766560" y="27706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radical cation M⁺•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20040" y="3246120"/>
            <a:ext cx="8503920" cy="141732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3" name="Shape 31"/>
          <p:cNvSpPr/>
          <p:nvPr/>
        </p:nvSpPr>
        <p:spPr>
          <a:xfrm>
            <a:off x="320040" y="3246120"/>
            <a:ext cx="850392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291840"/>
          <a:ext cx="8412480" cy="1298448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46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DBE Calculation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C₈H₁₀N₄O₂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Caffeine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+ 8(1) + 10(−½) + 4(½) + 2(−½×2+2×0)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C₆H₆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Benzene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+ 6(1) + 6(−½)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C₃H₇Cl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Propyl chloride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+ 3(1) + 7(−½) + 1(−½)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 32"/>
          <p:cNvSpPr/>
          <p:nvPr/>
        </p:nvSpPr>
        <p:spPr>
          <a:xfrm>
            <a:off x="320040" y="4681728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Pretsch E. et al. Structure Determination of Organic Compounds, 4th ed. (2009) DOI:10.1007/978-3-540-93810-1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91525"/>
          </a:solidFill>
          <a:ln w="12700">
            <a:solidFill>
              <a:srgbClr val="09152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1 — Nitrogen Rule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28600" y="4956048"/>
            <a:ext cx="8686800" cy="0"/>
          </a:xfrm>
          <a:prstGeom prst="line">
            <a:avLst/>
          </a:prstGeom>
          <a:noFill/>
          <a:ln w="63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228600" y="47731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Fragment Exact-Mass Calculator  |  Python / Open Source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5029200" cy="283464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0040" y="1051560"/>
            <a:ext cx="54864" cy="28346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57200" y="11155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(McLafferty &amp; Turecek 1993)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1426464"/>
            <a:ext cx="4754880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EVEN-electron ions (integer DBE):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odd m/z  ↔  odd nitrogen count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even m/z  ↔  even nitrogen count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5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ODD-electron ions (half-integer DBE):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rule is INVERTED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5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Implementation: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n_count = N + P atom counts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even_electron = (DBE × 2) is even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even_e:  passed = (mz_odd == n_odd)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odd_e:   passed = (mz_odd != n_odd)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0" y="1051560"/>
            <a:ext cx="3337560" cy="283464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5486400" y="1051560"/>
            <a:ext cx="54864" cy="28346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5623560" y="1115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541264" y="1463040"/>
            <a:ext cx="3191256" cy="658368"/>
          </a:xfrm>
          <a:prstGeom prst="rect">
            <a:avLst/>
          </a:prstGeom>
          <a:solidFill>
            <a:srgbClr val="0D1F2D"/>
          </a:solidFill>
          <a:ln w="12700">
            <a:solidFill>
              <a:srgbClr val="162B3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5623560" y="1463040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m/z 194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146304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C₈H₁₀N₄O₂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55080" y="1792224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EE, N=4 even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138160" y="1609344"/>
            <a:ext cx="502920" cy="347472"/>
          </a:xfrm>
          <a:prstGeom prst="roundRect">
            <a:avLst>
              <a:gd name="adj" fmla="val 15789"/>
            </a:avLst>
          </a:prstGeom>
          <a:solidFill>
            <a:srgbClr val="22C55E">
              <a:alpha val="65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8138160" y="1609344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41264" y="2240280"/>
            <a:ext cx="3191256" cy="658368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5623560" y="2240280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m/z 149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55080" y="22402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C₈H₉O₂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55080" y="2569464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EE, N=0 even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8138160" y="2386584"/>
            <a:ext cx="502920" cy="347472"/>
          </a:xfrm>
          <a:prstGeom prst="roundRect">
            <a:avLst>
              <a:gd name="adj" fmla="val 15789"/>
            </a:avLst>
          </a:prstGeom>
          <a:solidFill>
            <a:srgbClr val="EF4444">
              <a:alpha val="65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8138160" y="2386584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41264" y="3017520"/>
            <a:ext cx="3191256" cy="658368"/>
          </a:xfrm>
          <a:prstGeom prst="rect">
            <a:avLst/>
          </a:prstGeom>
          <a:solidFill>
            <a:srgbClr val="0D1F2D"/>
          </a:solidFill>
          <a:ln w="12700">
            <a:solidFill>
              <a:srgbClr val="162B3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Text 26"/>
          <p:cNvSpPr/>
          <p:nvPr/>
        </p:nvSpPr>
        <p:spPr>
          <a:xfrm>
            <a:off x="5623560" y="3017520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m/z 77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55080" y="30175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C₆H₅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55080" y="3346704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 (inverted)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8138160" y="3163824"/>
            <a:ext cx="502920" cy="347472"/>
          </a:xfrm>
          <a:prstGeom prst="roundRect">
            <a:avLst>
              <a:gd name="adj" fmla="val 15789"/>
            </a:avLst>
          </a:prstGeom>
          <a:solidFill>
            <a:srgbClr val="22C55E">
              <a:alpha val="65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Text 30"/>
          <p:cNvSpPr/>
          <p:nvPr/>
        </p:nvSpPr>
        <p:spPr>
          <a:xfrm>
            <a:off x="8138160" y="3163824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0040" y="3959352"/>
            <a:ext cx="8503920" cy="475488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4" name="Shape 32"/>
          <p:cNvSpPr/>
          <p:nvPr/>
        </p:nvSpPr>
        <p:spPr>
          <a:xfrm>
            <a:off x="320040" y="3959352"/>
            <a:ext cx="54864" cy="47548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Text 33"/>
          <p:cNvSpPr/>
          <p:nvPr/>
        </p:nvSpPr>
        <p:spPr>
          <a:xfrm>
            <a:off x="457200" y="3977640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 --no-nitrogen-rule to disable   |   P (phosphorus) also counted as nitrogen-equivalent for the parity check.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20040" y="4681728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McLafferty F.W. &amp; Turecek F. Interpretation of Mass Spectra, 4th ed. (1993) DOI:10.1002/jms.1190080509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91525"/>
          </a:solidFill>
          <a:ln w="12700">
            <a:solidFill>
              <a:srgbClr val="09152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2 — Hydrogen Deficiency (DBE/C Ratio)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28600" y="4956048"/>
            <a:ext cx="8686800" cy="0"/>
          </a:xfrm>
          <a:prstGeom prst="line">
            <a:avLst/>
          </a:prstGeom>
          <a:noFill/>
          <a:ln w="63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228600" y="47731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Fragment Exact-Mass Calculator  |  Python / Open Source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8503920" cy="96012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0040" y="1051560"/>
            <a:ext cx="54864" cy="9601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5720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Reject if  </a:t>
            </a:r>
            <a:r>
              <a:rPr lang="en-US" sz="13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DBE / C_count  &gt;  max_ring_ratio  </a:t>
            </a:r>
            <a:r>
              <a:rPr lang="en-US" sz="1300" i="1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(default 0.5, set via --max-ring-ratio)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15727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Rationale: for typical organic EI fragments, DBE rarely exceeds half the carbon count. A ratio &gt; 0.5 implies an extraordinarily hydrogen-poor structure unlikely to survive as a stable EI fragment.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2084832"/>
            <a:ext cx="2011680" cy="160020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320040" y="2084832"/>
            <a:ext cx="2011680" cy="5486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320040" y="213969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C₈H₁₀N₄O₂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0040" y="25877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Caffeine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0040" y="28620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DBE=6  C=8  ratio=0.75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77240" y="3136392"/>
            <a:ext cx="1097280" cy="384048"/>
          </a:xfrm>
          <a:prstGeom prst="roundRect">
            <a:avLst>
              <a:gd name="adj" fmla="val 16667"/>
            </a:avLst>
          </a:prstGeom>
          <a:solidFill>
            <a:srgbClr val="EF4444">
              <a:alpha val="65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77240" y="31363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FAIL*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468880" y="2084832"/>
            <a:ext cx="2011680" cy="160020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2468880" y="2084832"/>
            <a:ext cx="2011680" cy="5486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2468880" y="213969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C₇H₇⁺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468880" y="25877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Tropylium m/z 91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468880" y="28620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DBE=5  C=7  ratio=0.71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926080" y="3136392"/>
            <a:ext cx="1097280" cy="384048"/>
          </a:xfrm>
          <a:prstGeom prst="roundRect">
            <a:avLst>
              <a:gd name="adj" fmla="val 16667"/>
            </a:avLst>
          </a:prstGeom>
          <a:solidFill>
            <a:srgbClr val="EF4444">
              <a:alpha val="65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2926080" y="31363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FAIL*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17720" y="2084832"/>
            <a:ext cx="2011680" cy="160020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7" name="Shape 25"/>
          <p:cNvSpPr/>
          <p:nvPr/>
        </p:nvSpPr>
        <p:spPr>
          <a:xfrm>
            <a:off x="4617720" y="2084832"/>
            <a:ext cx="2011680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Text 26"/>
          <p:cNvSpPr/>
          <p:nvPr/>
        </p:nvSpPr>
        <p:spPr>
          <a:xfrm>
            <a:off x="4617720" y="213969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C₆H₁₂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617720" y="25877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Cyclohexane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617720" y="28620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DBE=1  C=6  ratio=0.17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74920" y="3136392"/>
            <a:ext cx="1097280" cy="384048"/>
          </a:xfrm>
          <a:prstGeom prst="roundRect">
            <a:avLst>
              <a:gd name="adj" fmla="val 16667"/>
            </a:avLst>
          </a:prstGeom>
          <a:solidFill>
            <a:srgbClr val="22C55E">
              <a:alpha val="65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Text 30"/>
          <p:cNvSpPr/>
          <p:nvPr/>
        </p:nvSpPr>
        <p:spPr>
          <a:xfrm>
            <a:off x="5074920" y="31363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766560" y="2084832"/>
            <a:ext cx="2011680" cy="160020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4" name="Shape 32"/>
          <p:cNvSpPr/>
          <p:nvPr/>
        </p:nvSpPr>
        <p:spPr>
          <a:xfrm>
            <a:off x="6766560" y="2084832"/>
            <a:ext cx="2011680" cy="5486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Text 33"/>
          <p:cNvSpPr/>
          <p:nvPr/>
        </p:nvSpPr>
        <p:spPr>
          <a:xfrm>
            <a:off x="6766560" y="213969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C₆H₆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66560" y="25877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 m/z 78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766560" y="28620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DBE=4  C=6  ratio=0.67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23760" y="3136392"/>
            <a:ext cx="1097280" cy="384048"/>
          </a:xfrm>
          <a:prstGeom prst="roundRect">
            <a:avLst>
              <a:gd name="adj" fmla="val 16667"/>
            </a:avLst>
          </a:prstGeom>
          <a:solidFill>
            <a:srgbClr val="EF4444">
              <a:alpha val="65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Text 37"/>
          <p:cNvSpPr/>
          <p:nvPr/>
        </p:nvSpPr>
        <p:spPr>
          <a:xfrm>
            <a:off x="7223760" y="31363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FAIL*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37490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With default ratio=0.5. Highly aromatic fragments need --max-ring-ratio 0.7+.  CLI: --no-hd-check to disable.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0040" y="4069080"/>
            <a:ext cx="8503920" cy="475488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2" name="Shape 40"/>
          <p:cNvSpPr/>
          <p:nvPr/>
        </p:nvSpPr>
        <p:spPr>
          <a:xfrm>
            <a:off x="320040" y="4069080"/>
            <a:ext cx="54864" cy="47548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3" name="Text 41"/>
          <p:cNvSpPr/>
          <p:nvPr/>
        </p:nvSpPr>
        <p:spPr>
          <a:xfrm>
            <a:off x="457200" y="4087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Configurable: --max-ring-ratio RATIO (default 0.5)   |   CLI: --no-hd-check to disable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20040" y="4681728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Pretsch E. et al. Structure Determination of Organic Compounds, 4th ed. (2009) DOI:10.1007/978-3-540-93810-1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91525"/>
          </a:solidFill>
          <a:ln w="12700">
            <a:solidFill>
              <a:srgbClr val="09152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3 — Lewis &amp; Senior Valence Rules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28600" y="4956048"/>
            <a:ext cx="8686800" cy="0"/>
          </a:xfrm>
          <a:prstGeom prst="line">
            <a:avLst/>
          </a:prstGeom>
          <a:noFill/>
          <a:ln w="63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228600" y="47731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Fragment Exact-Mass Calculator  |  Python / Open Source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4206240" cy="196596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0040" y="1051560"/>
            <a:ext cx="54864" cy="196596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57200" y="11155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1 — Valence Parity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1426464"/>
            <a:ext cx="393192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(valenceᵢ × countᵢ)  must be EVEN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5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covalent bond uses 2 valence electrons. An odd total means no valid molecular graph can be constructed — the structure cannot exist.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1051560"/>
            <a:ext cx="4160520" cy="196596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4663440" y="1051560"/>
            <a:ext cx="54864" cy="196596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4800600" y="11155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2 — Connectivity Minimum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00600" y="1426464"/>
            <a:ext cx="38404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(valenceᵢ × countᵢ)  ≥  2 × (atom_count − 1)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5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connected graph of N nodes requires at least N−1 edges. Below this minimum, the atoms cannot form a single connected molecule.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3090672"/>
            <a:ext cx="5029200" cy="118872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320040" y="3090672"/>
            <a:ext cx="502920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457200" y="3163824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Valence Table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401568"/>
          <a:ext cx="4892040" cy="749808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749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486400" y="3090672"/>
            <a:ext cx="3337560" cy="118872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1" name="Shape 18"/>
          <p:cNvSpPr/>
          <p:nvPr/>
        </p:nvSpPr>
        <p:spPr>
          <a:xfrm>
            <a:off x="5486400" y="3090672"/>
            <a:ext cx="3337560" cy="54864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19"/>
          <p:cNvSpPr/>
          <p:nvPr/>
        </p:nvSpPr>
        <p:spPr>
          <a:xfrm>
            <a:off x="5577840" y="316382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577840" y="341985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CH₄O (methanol)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223760" y="34198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Σval=10 (even) ≥ 8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138160" y="3419856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5577840" y="369417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CH₃• (radical)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223760" y="369417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Σval=7 (odd)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8138160" y="3694176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R1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5577840" y="39684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C₂H₂ (acetylene)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223760" y="396849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Σval=10 ≥ 4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8138160" y="3968496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320040" y="4681728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 --no-lewis-senior to disable   |   Ref: Senior J.K. Am. J. Math. 73(3):663–689 (1951) DOI:10.2307/2372318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91525"/>
          </a:solidFill>
          <a:ln w="12700">
            <a:solidFill>
              <a:srgbClr val="09152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4 — Isotope Pattern Matching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28600" y="4956048"/>
            <a:ext cx="8686800" cy="0"/>
          </a:xfrm>
          <a:prstGeom prst="line">
            <a:avLst/>
          </a:prstGeom>
          <a:noFill/>
          <a:ln w="63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228600" y="47731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Fragment Exact-Mass Calculator  |  Python / Open Source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8503920" cy="64008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0040" y="1051560"/>
            <a:ext cx="54864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57200" y="109728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Σ |theoretical % − observed %|  for M+1 and M+2   </a:t>
            </a:r>
            <a:r>
              <a:rPr lang="en-US" sz="12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= better.  Threshold: 30 pp  (--isotope-tolerance)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1783080"/>
            <a:ext cx="4206240" cy="214884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320040" y="1783080"/>
            <a:ext cx="4206240" cy="54864"/>
          </a:xfrm>
          <a:prstGeom prst="rect">
            <a:avLst/>
          </a:prstGeom>
          <a:solidFill>
            <a:srgbClr val="FACC15"/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457200" y="18562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Isotope Contributors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130552"/>
          <a:ext cx="4069080" cy="1719072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55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Isotope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Abundance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55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¹³C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AC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M+1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55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¹⁵N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AC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M+1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55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²H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AC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M+1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55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³⁴S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AC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M+2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55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³⁷Cl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AC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32.50%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M+2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Cl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55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⁸¹Br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AC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97.30%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M+2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Br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4663440" y="1783080"/>
            <a:ext cx="4160520" cy="214884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Shape 13"/>
          <p:cNvSpPr/>
          <p:nvPr/>
        </p:nvSpPr>
        <p:spPr>
          <a:xfrm>
            <a:off x="4663440" y="1783080"/>
            <a:ext cx="54864" cy="21488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4"/>
          <p:cNvSpPr/>
          <p:nvPr/>
        </p:nvSpPr>
        <p:spPr>
          <a:xfrm>
            <a:off x="4800600" y="18562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800600" y="2130552"/>
            <a:ext cx="3840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C₆H₅Cl (chlorobenzene, M=112):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Theo M+2 = 32.5%  (³⁷Cl)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Obs M+2 = 5%  →  score = 27.5 pp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Borderline PASS (&lt; 30 pp)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5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C₈H₁₀N₄O₂ (caffeine, M=194):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Theo M+1 ≈ 9.4%  (8 × 1.1%)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Obs M+1 ≈ 10%  →  score = 0.6 pp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Excellent PASS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320040" y="4681728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 --no-isotope-score to disable  |  --isotope-tolerance PP  |  Ref: Gross J.H. Mass Spectrometry: A Textbook, 3rd ed. (2017) DOI:10.1007/978-3-319-54398-7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91525"/>
          </a:solidFill>
          <a:ln w="12700">
            <a:solidFill>
              <a:srgbClr val="09152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5 — Structural / SMILES Ring Constraints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28600" y="4956048"/>
            <a:ext cx="8686800" cy="0"/>
          </a:xfrm>
          <a:prstGeom prst="line">
            <a:avLst/>
          </a:prstGeom>
          <a:noFill/>
          <a:ln w="63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228600" y="47731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Fragment Exact-Mass Calculator  |  Python / Open Source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8503920" cy="758952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0040" y="1051560"/>
            <a:ext cx="54864" cy="7589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57200" y="1097280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Reject fragment if  </a:t>
            </a:r>
            <a:r>
              <a:rPr lang="en-US" sz="13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DBE_fragment  &gt;  parent_ring_count × 2 + 1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1527048"/>
            <a:ext cx="8138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fragment cannot have more rings than the parent. Ring count from V2000 MOL block: rings = bonds − atoms + 1 (cyclomatic number).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" y="1901952"/>
            <a:ext cx="4206240" cy="150876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320040" y="1901952"/>
            <a:ext cx="54864" cy="15087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457200" y="1965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 — MOL Block Parser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276856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parse_mol_block_full() extracts: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Atom table (element, formal charge)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Bond table (a1, a2, bond type)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Adjacency graph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ring_count = |bonds| − |atoms| + 1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 MOL block → filter skipped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1901952"/>
            <a:ext cx="4160520" cy="150876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4663440" y="1901952"/>
            <a:ext cx="54864" cy="150876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4800600" y="1965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2286000"/>
            <a:ext cx="4160520" cy="310896"/>
          </a:xfrm>
          <a:prstGeom prst="rect">
            <a:avLst/>
          </a:prstGeom>
          <a:solidFill>
            <a:srgbClr val="0D1F2D"/>
          </a:solidFill>
          <a:ln w="12700">
            <a:solidFill>
              <a:srgbClr val="162B3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4754880" y="22860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Cyclohexane (rings=1)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812280" y="22860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DBE=2 ≤ 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0" y="22860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63440" y="2633472"/>
            <a:ext cx="4160520" cy="310896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4754880" y="263347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Cyclohexane (rings=1)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812280" y="263347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DBE=3 &gt; 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263347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663440" y="2980944"/>
            <a:ext cx="4160520" cy="310896"/>
          </a:xfrm>
          <a:prstGeom prst="rect">
            <a:avLst/>
          </a:prstGeom>
          <a:solidFill>
            <a:srgbClr val="0D1F2D"/>
          </a:solidFill>
          <a:ln w="12700">
            <a:solidFill>
              <a:srgbClr val="162B3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Text 26"/>
          <p:cNvSpPr/>
          <p:nvPr/>
        </p:nvSpPr>
        <p:spPr>
          <a:xfrm>
            <a:off x="4754880" y="298094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Cholesterol (rings=4)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812280" y="29809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DBE=8 ≤ 9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29600" y="298094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3328416"/>
            <a:ext cx="4160520" cy="310896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Text 30"/>
          <p:cNvSpPr/>
          <p:nvPr/>
        </p:nvSpPr>
        <p:spPr>
          <a:xfrm>
            <a:off x="4754880" y="332841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Cholesterol (rings=4)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812280" y="332841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DBE=9 &gt; 9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332841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20040" y="4681728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 --no-smiles-constraints to disable   |   Ref: Weininger D. J. Chem. Inf. Comput. Sci. 28(1):31–36 (1988) DOI:10.1021/ci00057a005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91525"/>
          </a:solidFill>
          <a:ln w="12700">
            <a:solidFill>
              <a:srgbClr val="09152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6 — RDKit Chemical Validation (Optional, default OFF)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28600" y="4956048"/>
            <a:ext cx="8686800" cy="0"/>
          </a:xfrm>
          <a:prstGeom prst="line">
            <a:avLst/>
          </a:prstGeom>
          <a:noFill/>
          <a:ln w="63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228600" y="47731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Fragment Exact-Mass Calculator  |  Python / Open Source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8503920" cy="59436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0040" y="1051560"/>
            <a:ext cx="54864" cy="5943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57200" y="1078992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Validate element symbols against the RDKit periodic table. Catches impossible symbols (‘Xx’, ‘R’, ‘D’) that slip through earlier filters due to data entry errors.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0040" y="1755648"/>
            <a:ext cx="5029200" cy="233172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320040" y="1755648"/>
            <a:ext cx="54864" cy="2331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457200" y="181965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" y="2130552"/>
            <a:ext cx="475488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F0F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rdkit import Chem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 = Chem.GetPeriodicTable()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atomic_num = pt.GetAtomicNumber(symbol)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atomic_num == 0:  → FAIL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500" dirty="0">
                <a:solidFill>
                  <a:srgbClr val="F0F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F0F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Graceful degradation: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rdkit-pypi not installed, filter is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silently skipped (returns True).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400" dirty="0">
                <a:solidFill>
                  <a:srgbClr val="F0F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Install:  pip install rdkit-pypi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0" y="1755648"/>
            <a:ext cx="3337560" cy="233172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5486400" y="1755648"/>
            <a:ext cx="54864" cy="233172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5623560" y="181965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0" y="2148840"/>
            <a:ext cx="3337560" cy="420624"/>
          </a:xfrm>
          <a:prstGeom prst="rect">
            <a:avLst/>
          </a:prstGeom>
          <a:solidFill>
            <a:srgbClr val="0D1F2D"/>
          </a:solidFill>
          <a:ln w="12700">
            <a:solidFill>
              <a:srgbClr val="162B3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5577840" y="214884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C₈H₁₀N₄O₂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95160" y="214884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known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275320" y="2212848"/>
            <a:ext cx="502920" cy="292608"/>
          </a:xfrm>
          <a:prstGeom prst="roundRect">
            <a:avLst>
              <a:gd name="adj" fmla="val 15625"/>
            </a:avLst>
          </a:prstGeom>
          <a:solidFill>
            <a:srgbClr val="22C55E">
              <a:alpha val="60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8275320" y="221284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0" y="2624328"/>
            <a:ext cx="3337560" cy="420624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5577840" y="262432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C₆H₅Xx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995160" y="262432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'Xx' unknown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275320" y="2688336"/>
            <a:ext cx="502920" cy="292608"/>
          </a:xfrm>
          <a:prstGeom prst="roundRect">
            <a:avLst>
              <a:gd name="adj" fmla="val 15625"/>
            </a:avLst>
          </a:prstGeom>
          <a:solidFill>
            <a:srgbClr val="EF4444">
              <a:alpha val="60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5"/>
          <p:cNvSpPr/>
          <p:nvPr/>
        </p:nvSpPr>
        <p:spPr>
          <a:xfrm>
            <a:off x="8275320" y="268833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0" y="3099816"/>
            <a:ext cx="3337560" cy="420624"/>
          </a:xfrm>
          <a:prstGeom prst="rect">
            <a:avLst/>
          </a:prstGeom>
          <a:solidFill>
            <a:srgbClr val="0D1F2D"/>
          </a:solidFill>
          <a:ln w="12700">
            <a:solidFill>
              <a:srgbClr val="162B3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5577840" y="309981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C₃H₇D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995160" y="309981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'D' not std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275320" y="3163824"/>
            <a:ext cx="502920" cy="292608"/>
          </a:xfrm>
          <a:prstGeom prst="roundRect">
            <a:avLst>
              <a:gd name="adj" fmla="val 15625"/>
            </a:avLst>
          </a:prstGeom>
          <a:solidFill>
            <a:srgbClr val="EF4444">
              <a:alpha val="60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Text 30"/>
          <p:cNvSpPr/>
          <p:nvPr/>
        </p:nvSpPr>
        <p:spPr>
          <a:xfrm>
            <a:off x="8275320" y="316382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86400" y="3575304"/>
            <a:ext cx="3337560" cy="420624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Text 32"/>
          <p:cNvSpPr/>
          <p:nvPr/>
        </p:nvSpPr>
        <p:spPr>
          <a:xfrm>
            <a:off x="5577840" y="3575304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C₁₂H₂₂O₁₁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995160" y="3575304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Sucrose — OK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275320" y="3639312"/>
            <a:ext cx="502920" cy="292608"/>
          </a:xfrm>
          <a:prstGeom prst="roundRect">
            <a:avLst>
              <a:gd name="adj" fmla="val 15625"/>
            </a:avLst>
          </a:prstGeom>
          <a:solidFill>
            <a:srgbClr val="22C55E">
              <a:alpha val="60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Text 35"/>
          <p:cNvSpPr/>
          <p:nvPr/>
        </p:nvSpPr>
        <p:spPr>
          <a:xfrm>
            <a:off x="8275320" y="36393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4160520"/>
            <a:ext cx="8503920" cy="41148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9" name="Shape 37"/>
          <p:cNvSpPr/>
          <p:nvPr/>
        </p:nvSpPr>
        <p:spPr>
          <a:xfrm>
            <a:off x="320040" y="4160520"/>
            <a:ext cx="54864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Text 38"/>
          <p:cNvSpPr/>
          <p:nvPr/>
        </p:nvSpPr>
        <p:spPr>
          <a:xfrm>
            <a:off x="457200" y="4178808"/>
            <a:ext cx="8138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Default: OFF.  Enable with --rdkit.  Off by default to avoid requiring an optional heavy dependency on non-chem installs.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20040" y="4681728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RDKit Open-source cheminformatics.  https://www.rdkit.org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91525"/>
          </a:solidFill>
          <a:ln w="12700">
            <a:solidFill>
              <a:srgbClr val="09152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Fragmentation Rules — Tier 1: Neutral Losses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28600" y="4956048"/>
            <a:ext cx="8686800" cy="0"/>
          </a:xfrm>
          <a:prstGeom prst="line">
            <a:avLst/>
          </a:prstGeom>
          <a:noFill/>
          <a:ln w="63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228600" y="47731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Fragment Exact-Mass Calculator  |  Python / Open Source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8503920" cy="475488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0040" y="1051560"/>
            <a:ext cx="54864" cy="47548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57200" y="107899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Formula-based — works for any record, no 2-D structure needed. For each of 30+ tabulated losses: (1) parent contains all atoms, (2) fragment ion mass within tolerance.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0200"/>
          <a:ext cx="6492240" cy="301752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21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 (Da)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21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H₂O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18.010565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Alcohols, carboxylic acids, sugars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21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27.994915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Carbonyl groups, aromatic C=O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21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43.989829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Carboxylic acids, esters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21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NH₃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17.026549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Amines, amides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35.976678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Organochlorines — pesticides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21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79.926160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Organobromines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21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27.010899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Aromatic N, nitriles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21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CH₃•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15.023475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Alpha-cleavage, methyl esters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21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CCl₃•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116.907378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DDT-type chloroalkanes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21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98.936978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Chlorophosphate pesticides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21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Si(CH₃)₃ (TMS)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73.046928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GC-MS silyl derivatives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21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63.961901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7AAF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Sulfones, sulfoxides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6949440" y="1600200"/>
            <a:ext cx="1874520" cy="301752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10"/>
          <p:cNvSpPr/>
          <p:nvPr/>
        </p:nvSpPr>
        <p:spPr>
          <a:xfrm>
            <a:off x="6949440" y="1600200"/>
            <a:ext cx="1874520" cy="54864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1"/>
          <p:cNvSpPr/>
          <p:nvPr/>
        </p:nvSpPr>
        <p:spPr>
          <a:xfrm>
            <a:off x="7040880" y="16733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040880" y="1965960"/>
            <a:ext cx="169164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Caffeine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C₈H₁₀N₄O₂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M⁺• = 194 Da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5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m/z 166: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194.080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− 27.995 (CO)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166.085 Da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5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Matched: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[M−CO]⁺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C₇H₈N₄O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320040" y="4681728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 --fragmentation-rules  |  Ref: McLafferty &amp; Turecek (1993); Gross (2017); Budzikiewicz &amp; Grigsby J. Am. Soc. Mass Spectrom. 17:1161 (2006)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91525"/>
          </a:solidFill>
          <a:ln w="12700">
            <a:solidFill>
              <a:srgbClr val="09152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Fragmentation Rules — Tier 2: Structure-Based Cleavages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28600" y="4956048"/>
            <a:ext cx="8686800" cy="0"/>
          </a:xfrm>
          <a:prstGeom prst="line">
            <a:avLst/>
          </a:prstGeom>
          <a:noFill/>
          <a:ln w="63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228600" y="47731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Fragment Exact-Mass Calculator  |  Python / Open Source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8503920" cy="402336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0040" y="1051560"/>
            <a:ext cx="54864" cy="40233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57200" y="1078992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Requires: parsed V2000 MOL block. Uses BFS connected-component analysis after virtual bond cleavage to enumerate fragment compositions.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1536192"/>
            <a:ext cx="4206240" cy="146304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320040" y="1536192"/>
            <a:ext cx="4206240" cy="5486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411480" y="16184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Homolytic Cleavage (σ-bond)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19202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every non-aromatic, non-ring single bond. Both fragments carry one radical electron.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2505456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CH₃−CH₂−OH  →  CH₃•  +  •CH₂OH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3090672"/>
            <a:ext cx="4206240" cy="146304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320040" y="3090672"/>
            <a:ext cx="4206240" cy="54864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411480" y="31729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Alpha (α) Cleavage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" y="34747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heteroatom (N, O, S, halogen): break adjacent C−C bond. Charge stays on heteroatom fragment.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11480" y="4059936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R−CO−CH₂R'  →  [R−C≡O]⁺  +  •CH₂R'  (acylium)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1536192"/>
            <a:ext cx="4206240" cy="146304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4663440" y="1536192"/>
            <a:ext cx="4206240" cy="54864"/>
          </a:xfrm>
          <a:prstGeom prst="rect">
            <a:avLst/>
          </a:prstGeom>
          <a:solidFill>
            <a:srgbClr val="FACC15"/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4754880" y="16184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Inductive (i) Cleavage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19202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β-Bond cleavage directed by heteroatom induction. Charge migrates away from the heteroatom.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54880" y="2505456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R−X  →  R⁺  +  X•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63440" y="3090672"/>
            <a:ext cx="4206240" cy="146304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7" name="Shape 25"/>
          <p:cNvSpPr/>
          <p:nvPr/>
        </p:nvSpPr>
        <p:spPr>
          <a:xfrm>
            <a:off x="4663440" y="3090672"/>
            <a:ext cx="4206240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Text 26"/>
          <p:cNvSpPr/>
          <p:nvPr/>
        </p:nvSpPr>
        <p:spPr>
          <a:xfrm>
            <a:off x="4754880" y="31729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McLafferty Rearrangement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754880" y="34747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C=O + α + β + γ-H pattern. H migrates from γ-C to O; α−β bond cleaves → enol ion.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54880" y="4059936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Methyl pentanoate → [CH₂=CHOH]⁺ (m/z 60) + propene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20040" y="4681728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 --fragmentation-rules to enable (OFF by default).  Ref: McLafferty &amp; Turecek (1993); Gross (2017) Ch. 6; Budzikiewicz &amp; Grigsby (2006)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91525"/>
          </a:solidFill>
          <a:ln w="12700">
            <a:solidFill>
              <a:srgbClr val="09152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Ranking — Best-First Ordering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28600" y="4956048"/>
            <a:ext cx="8686800" cy="0"/>
          </a:xfrm>
          <a:prstGeom prst="line">
            <a:avLst/>
          </a:prstGeom>
          <a:noFill/>
          <a:ln w="63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228600" y="47731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Fragment Exact-Mass Calculator  |  Python / Open Source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2743200" cy="233172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0040" y="1051560"/>
            <a:ext cx="27432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1307592" y="1133856"/>
            <a:ext cx="713232" cy="713232"/>
          </a:xfrm>
          <a:prstGeom prst="ellipse">
            <a:avLst/>
          </a:prstGeom>
          <a:solidFill>
            <a:srgbClr val="06B6D4">
              <a:alpha val="75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1307592" y="1133856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93192" y="1892808"/>
            <a:ext cx="2596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Pass Status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2286000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filter_passed = True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before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filter_passed = False</a:t>
            </a:r>
            <a:endParaRPr lang="en-US" sz="950" dirty="0"/>
          </a:p>
          <a:p>
            <a:pPr marL="0" indent="0" algn="ctr">
              <a:buNone/>
            </a:pP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Chemically valid structures always shown first.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0" y="1051560"/>
            <a:ext cx="2743200" cy="233172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200400" y="1051560"/>
            <a:ext cx="2743200" cy="54864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4187952" y="1133856"/>
            <a:ext cx="713232" cy="713232"/>
          </a:xfrm>
          <a:prstGeom prst="ellipse">
            <a:avLst/>
          </a:prstGeom>
          <a:solidFill>
            <a:srgbClr val="FB923C">
              <a:alpha val="75000"/>
            </a:srgbClr>
          </a:solidFill>
          <a:ln w="1270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4187952" y="1133856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273552" y="1892808"/>
            <a:ext cx="2596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Accuracy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91840" y="2286000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|delta_mass| = |ion_mass − nominal_mz|</a:t>
            </a:r>
            <a:endParaRPr lang="en-US" sz="950" dirty="0"/>
          </a:p>
          <a:p>
            <a:pPr marL="0" indent="0" algn="ctr">
              <a:buNone/>
            </a:pP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absolute deviation wins. Closest mass match gets priority.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080760" y="1051560"/>
            <a:ext cx="2743200" cy="233172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1" name="Shape 19"/>
          <p:cNvSpPr/>
          <p:nvPr/>
        </p:nvSpPr>
        <p:spPr>
          <a:xfrm>
            <a:off x="6080760" y="1051560"/>
            <a:ext cx="2743200" cy="54864"/>
          </a:xfrm>
          <a:prstGeom prst="rect">
            <a:avLst/>
          </a:prstGeom>
          <a:solidFill>
            <a:srgbClr val="FACC15"/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7068312" y="1133856"/>
            <a:ext cx="713232" cy="713232"/>
          </a:xfrm>
          <a:prstGeom prst="ellipse">
            <a:avLst/>
          </a:prstGeom>
          <a:solidFill>
            <a:srgbClr val="FACC15">
              <a:alpha val="75000"/>
            </a:srgbClr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7068312" y="1133856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153912" y="1892808"/>
            <a:ext cx="2596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Isotope Score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172200" y="2286000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Σ |theo% − obs%|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M+1 and M+2</a:t>
            </a:r>
            <a:endParaRPr lang="en-US" sz="950" dirty="0"/>
          </a:p>
          <a:p>
            <a:pPr marL="0" indent="0" algn="ctr">
              <a:buNone/>
            </a:pP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score = better isotope pattern agreement.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0040" y="3474720"/>
            <a:ext cx="4160520" cy="82296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7" name="Shape 25"/>
          <p:cNvSpPr/>
          <p:nvPr/>
        </p:nvSpPr>
        <p:spPr>
          <a:xfrm>
            <a:off x="320040" y="3474720"/>
            <a:ext cx="54864" cy="82296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Text 26"/>
          <p:cNvSpPr/>
          <p:nvPr/>
        </p:nvSpPr>
        <p:spPr>
          <a:xfrm>
            <a:off x="457200" y="35387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--best-only Mode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81304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only the top-ranked candidate per peak. Peaks where the best candidate still fails all filters are silently dropped from output.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17720" y="3474720"/>
            <a:ext cx="4206240" cy="82296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1" name="Shape 29"/>
          <p:cNvSpPr/>
          <p:nvPr/>
        </p:nvSpPr>
        <p:spPr>
          <a:xfrm>
            <a:off x="4617720" y="3474720"/>
            <a:ext cx="42062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Text 30"/>
          <p:cNvSpPr/>
          <p:nvPr/>
        </p:nvSpPr>
        <p:spPr>
          <a:xfrm>
            <a:off x="4709160" y="353872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example: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709160" y="37947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0F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C₈H₁₀N₄O₂  194.0796 Da  Δ=+0.079  DBE=6.0  OK  [M−CO]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91525"/>
          </a:solidFill>
          <a:ln w="12700">
            <a:solidFill>
              <a:srgbClr val="09152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 Modes — Fixed Da vs. Parts Per Million (ppm)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28600" y="4956048"/>
            <a:ext cx="8686800" cy="0"/>
          </a:xfrm>
          <a:prstGeom prst="line">
            <a:avLst/>
          </a:prstGeom>
          <a:noFill/>
          <a:ln w="63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228600" y="47731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Fragment Exact-Mass Calculator  |  Python / Open Source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4206240" cy="233172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0040" y="1051560"/>
            <a:ext cx="54864" cy="2331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57200" y="11155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Da Mode (default)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1444752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 = constant Da  (e.g. ±0.5 Da)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 --tolerance 0.5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5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absolute window at every m/z.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conservative, forgiving.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5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Unit-mass EI instruments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(quadrupole, ion trap)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1051560"/>
            <a:ext cx="4160520" cy="233172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4663440" y="1051560"/>
            <a:ext cx="54864" cy="233172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4800600" y="11155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ppm Mode (high-resolution)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00600" y="1444752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 = mz × ppm / 1,000,000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 --ppm 5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5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Per-peak window scales with m/z.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Tighter and more selective.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50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High-resolution EI instruments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(Orbitrap, QTOF)</a:t>
            </a:r>
            <a:endParaRPr lang="en-US" sz="10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74720"/>
          <a:ext cx="8321040" cy="12573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m/z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±0.5 Da window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±5 ppm window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ppm is tighter by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±0.500 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±0.000250 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AC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2,000×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±0.500 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±0.000500 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AC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±0.500 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±0.001000 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AC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±0.500 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±0.002500 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AC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320040" y="4681728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--ppm and --tolerance are mutually exclusive flags.  Default is ±0.5 Da if neither is specified.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91525"/>
          </a:solidFill>
          <a:ln w="12700">
            <a:solidFill>
              <a:srgbClr val="09152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0F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— Filters &amp; Algorithms at a Glance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87552"/>
          <a:ext cx="8321040" cy="3017520"/>
        </p:xfrm>
        <a:graphic>
          <a:graphicData uri="http://schemas.openxmlformats.org/drawingml/2006/table">
            <a:tbl>
              <a:tblPr/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 /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by Default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 Flag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Electron-mass correction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--electron 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Branch-and-bound enumeration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DBE validity (≥0, ×0.5)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 1: Nitrogen Rule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--no-nitrogen-rule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 2: H-Deficiency (DBE/C)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--no-hd-check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 3: Lewis &amp; Senior Valence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--no-lewis-senior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 4: Isotope Pattern Score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--no-isotope-score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 5: SMILES / Ring Constraints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--no-smiles-constraints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 6: RDKit Validation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4A7A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--rdkit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Fragmentation Rules (Tier 1+2)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4A7A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--fragmentation-rules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0F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ppm tolerance mode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4A7A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--ppm 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B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20040" y="4059936"/>
            <a:ext cx="8503920" cy="868680"/>
          </a:xfrm>
          <a:prstGeom prst="rect">
            <a:avLst/>
          </a:prstGeom>
          <a:solidFill>
            <a:srgbClr val="162B3A"/>
          </a:solidFill>
          <a:ln w="12700">
            <a:solidFill>
              <a:srgbClr val="162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4"/>
          <p:cNvSpPr/>
          <p:nvPr/>
        </p:nvSpPr>
        <p:spPr>
          <a:xfrm>
            <a:off x="320040" y="4059936"/>
            <a:ext cx="850392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5"/>
          <p:cNvSpPr/>
          <p:nvPr/>
        </p:nvSpPr>
        <p:spPr>
          <a:xfrm>
            <a:off x="438912" y="4133088"/>
            <a:ext cx="8321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8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References:  </a:t>
            </a:r>
            <a:r>
              <a:rPr lang="en-US" sz="85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McLafferty &amp; Turecek (1993)  ·  Pretsch et al. (2009) DOI:10.1007/978-3-540-93810-1  ·  Senior (1951) DOI:10.2307/2372318  ·  Gross (2017) DOI:10.1007/978-3-319-54398-7  ·  Weininger (1988) DOI:10.1021/ci00057a005  ·  Budzikiewicz &amp; Grigsby J. Am. Soc. Mass Spectrom. 17:1161 (2006)  ·  Land &amp; Doig (1960) DOI:10.2307/1910129  ·  RDKit: rdkit.org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28600" y="4956048"/>
            <a:ext cx="8686800" cy="0"/>
          </a:xfrm>
          <a:prstGeom prst="line">
            <a:avLst/>
          </a:prstGeom>
          <a:noFill/>
          <a:ln w="63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7"/>
          <p:cNvSpPr/>
          <p:nvPr/>
        </p:nvSpPr>
        <p:spPr>
          <a:xfrm>
            <a:off x="228600" y="477316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Fragment Exact-Mass Calculator  |  Python / Open Source  |  16/16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52164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3126</Words>
  <Application>Microsoft Office PowerPoint</Application>
  <PresentationFormat>Bildschirmpräsentation (16:9)</PresentationFormat>
  <Paragraphs>530</Paragraphs>
  <Slides>17</Slides>
  <Notes>16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1" baseType="lpstr">
      <vt:lpstr>Arial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 Fragment Exact-Mass Calculator — Algorithms &amp; Filters</dc:title>
  <dc:subject>PptxGenJS Presentation</dc:subject>
  <dc:creator>EI Fragment Calculator</dc:creator>
  <cp:lastModifiedBy>Joerg Riener</cp:lastModifiedBy>
  <cp:revision>2</cp:revision>
  <dcterms:created xsi:type="dcterms:W3CDTF">2026-04-11T07:12:53Z</dcterms:created>
  <dcterms:modified xsi:type="dcterms:W3CDTF">2026-04-15T15:30:32Z</dcterms:modified>
</cp:coreProperties>
</file>