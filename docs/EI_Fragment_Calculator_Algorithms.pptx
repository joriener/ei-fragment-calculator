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16002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8016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538728"/>
            <a:ext cx="8229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Filters &amp; Fragmentation Rules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794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Post-Filters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3794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 Enum.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794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Fragmentation 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— Python / Open Source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069848"/>
            <a:ext cx="338328" cy="33832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6984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987552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SDF Input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987552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molecular formula + EI mass spectrum peaks from SDF 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517904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600200"/>
            <a:ext cx="338328" cy="338328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002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517904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Electron-Mass Correction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1517904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measured m/z to neutral mass target (EI+/EI−/none)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130552"/>
            <a:ext cx="338328" cy="338328"/>
          </a:xfrm>
          <a:prstGeom prst="ellipse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3055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048256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 Enumeration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49040" y="2048256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valid candidate elemental compositions (heaviest-first pruning)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660904"/>
            <a:ext cx="338328" cy="33832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609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578608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Pipeline (Filters 1–6)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2578608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chemically implausible candidates (nitrogen rule, DBE, valence…)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108960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191256"/>
            <a:ext cx="338328" cy="33832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1912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108960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Rule Annotation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49040" y="3108960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candidates with known EI pathways — Tier 1 (neutral loss) &amp; Tier 2 (structure)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721608"/>
            <a:ext cx="338328" cy="338328"/>
          </a:xfrm>
          <a:prstGeom prst="ellipse">
            <a:avLst/>
          </a:prstGeom>
          <a:solidFill>
            <a:srgbClr val="FACC15">
              <a:alpha val="80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216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3639312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749040" y="3639312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filter pass status → mass accuracy → isotope 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169664"/>
            <a:ext cx="8503920" cy="49834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4251960"/>
            <a:ext cx="338328" cy="338328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5196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4169664"/>
            <a:ext cx="30175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749040" y="4169664"/>
            <a:ext cx="48463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text report + enriched SDF file with all candidate formulas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Electron-Mass Correction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06240" cy="35204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3520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Ionisation &amp; Correction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e⁻(fast)  →  M⁺• + 2e⁻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measures the ion, not the neutral: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EI+:  m/z = Mₙₑᵤₜʳʳʳ − mₑ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EI−:  m/z = Mₙₑᵤₜʳʳʳ + mₑ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None: m/z = Mₙₑᵤₜʳʳʳ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mₑ = 0.000548580 Da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neutral mass (EI+):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nominal_mz + mₑ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IUPAC 2016 atomic masses; Gross (2017)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160520" cy="21031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54864" cy="2103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Caffeine [M]⁺•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44475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C₈H₁₀N₄O₂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m/z:  194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194 + 0.000549 = 194.000549 Da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mass = 194.079602 Da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|194.0796 − 194.0006| = 0.079 Da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within ±0.5 Da window  ✓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246120"/>
          <a:ext cx="3840480" cy="5943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914400"/>
              </a:tblGrid>
              <a:tr h="148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EI+ (default)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--electron remove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mₑ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--electron 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148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--electron 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Branch-and-Bound Formula Enumeration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06240" cy="19659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196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elemental compositions CᵃHᵇNᶜ Oᵈ … whose ion mass is within ±tolerance of the observed m/z, subject to atom-conservation (fragment ≤ parent counts per element).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Cartesian Product: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product: ~3,000 tested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Branch-and-bound: ~12 valid found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~250×  for m/z 194 example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4206240" cy="15087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90672"/>
            <a:ext cx="54864" cy="1508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_enumerate_pruned()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Sort elements heaviest-first (Cl &gt; S &gt; O &gt; N &gt; C &gt; H)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Precompute max_tail[i] = max mass from index i onward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 level: lo = ⌈(target−tol−partial−max_tail[i+1]) / mass[i]⌉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hi = ⌊(target+tol−partial) / mass[i]⌋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Prune entire subtrees where lo &gt; hi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60520" cy="14173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54864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Modes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17320"/>
          <a:ext cx="3840480" cy="530352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</a:tblGrid>
              <a:tr h="176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 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Unit-mass EI (quadrupole)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 × ppm / 10⁶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Orbitrap / QTOF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2587752"/>
            <a:ext cx="4160520" cy="201168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587752"/>
            <a:ext cx="54864" cy="2011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Tree (schematic)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00600" y="2962656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 (heaviest): lo=0, hi=1  [2 branches]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Cl=0: reachable → explore ✓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Cl=1: mass &gt; target+tol → PRUNE ✗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S: lo=0, hi=2  [3 branches] → recurse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O, N, C … continue until leaf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Leaf: emit valid formula tuple ✓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Land A.H. &amp; Doig A.G. Econometrica 28(3):497–520 (1960) DOI:10.2307/1910129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— Degree of Unsaturation (Rings + Double Bonds)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896112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= 1 + Σᵢ  countᵢ × (valenceᵢ − 2) / 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16093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DBE ≥ 0  and  DBE × 2 ∈ ℤ   |   Half-integer = odd-electron ion (M⁺•)   |   Integer = even-electron 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2011680" cy="11430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11680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66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= 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Alkane, no rings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2011680"/>
            <a:ext cx="2011680" cy="11430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201168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066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= 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6888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ring or C=O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Cyclohexane / ketone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011680"/>
            <a:ext cx="2011680" cy="11430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011680"/>
            <a:ext cx="201168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66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= 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1772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 (3 C=C + 1 ring)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011680"/>
            <a:ext cx="2011680" cy="11430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201168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0665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= 0.5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76656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Odd-electron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770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radical cation M⁺•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246120"/>
            <a:ext cx="8503920" cy="14173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46120"/>
            <a:ext cx="8503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298448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749040"/>
                <a:gridCol w="100584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DBE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C₈H₁₀N₄O₂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Caffeine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+ 8(1) + 10(−½) + 4(½) + 2(−½×2+2×0)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C₆H₆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+ 6(1) + 6(−½)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C₃H₇Cl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Propyl chloride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+ 3(1) + 7(−½) + 1(−½)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Pretsch E. et al. Structure Determination of Organic Compounds, 4th ed. (2009) DOI:10.1007/978-3-540-93810-1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1 — Nitrogen Rule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8346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2834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(McLafferty &amp; Turecek 1993)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475488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EVEN-electron ions (integer DBE):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odd m/z  ↔  odd nitrogen count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 m/z  ↔  even nitrogen count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ODD-electron ions (half-integer DBE):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is INVERTED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n_count = N + P atom counts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even_electron = (DBE × 2) is even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even_e:  passed = (mz_odd == n_odd)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odd_e:   passed = (mz_odd != n_odd)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1051560"/>
            <a:ext cx="3337560" cy="28346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051560"/>
            <a:ext cx="54864" cy="2834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115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41264" y="1463040"/>
            <a:ext cx="3191256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4630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m/z 194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C₈H₁₀N₄O₂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17922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EE, N=4 even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38160" y="16093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6093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41264" y="2240280"/>
            <a:ext cx="3191256" cy="65836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2402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m/z 149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240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C₈H₉O₂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569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EE, N=0 even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38160" y="238658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F4444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23865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41264" y="3017520"/>
            <a:ext cx="3191256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30175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m/z 77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017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3467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(inverted)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0" y="31638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1638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959352"/>
            <a:ext cx="8503920" cy="47548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959352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776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--no-nitrogen-rule to disable   |   P (phosphorus) also counted as nitrogen-equivalent for the parity check.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McLafferty F.W. &amp; Turecek F. Interpretation of Mass Spectra, 4th ed. (1993) DOI:10.1002/jms.1190080509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2 — Hydrogen Deficiency (DBE/C Ratio)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Reject if  </a:t>
            </a:r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 / C_count  &gt;  max_ring_ratio  </a:t>
            </a:r>
            <a:pPr indent="0" marL="0">
              <a:buNone/>
            </a:pPr>
            <a:r>
              <a:rPr lang="en-US" sz="13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0.5, set via --max-ring-ratio)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for typical organic EI fragments, DBE rarely exceeds half the carbon count. A ratio &gt; 0.5 implies an extraordinarily hydrogen-poor structure unlikely to survive as a stable EI fragment.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2011680" cy="16002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84832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396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C₈H₁₀N₄O₂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2587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DBE=6  C=8  ratio=0.75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136392"/>
            <a:ext cx="1097280" cy="384048"/>
          </a:xfrm>
          <a:prstGeom prst="roundRect">
            <a:avLst>
              <a:gd name="adj" fmla="val 16667"/>
            </a:avLst>
          </a:prstGeom>
          <a:solidFill>
            <a:srgbClr val="EF4444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084832"/>
            <a:ext cx="2011680" cy="16002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2084832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1396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C₇H₇⁺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2587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Tropylium m/z 91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68880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DBE=5  C=7  ratio=0.71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3136392"/>
            <a:ext cx="1097280" cy="384048"/>
          </a:xfrm>
          <a:prstGeom prst="roundRect">
            <a:avLst>
              <a:gd name="adj" fmla="val 16667"/>
            </a:avLst>
          </a:prstGeom>
          <a:solidFill>
            <a:srgbClr val="EF4444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084832"/>
            <a:ext cx="2011680" cy="16002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084832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1396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C₆H₁₂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2587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Cyclohexane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7720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DBE=1  C=6  ratio=0.17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136392"/>
            <a:ext cx="1097280" cy="384048"/>
          </a:xfrm>
          <a:prstGeom prst="roundRect">
            <a:avLst>
              <a:gd name="adj" fmla="val 16667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084832"/>
            <a:ext cx="2011680" cy="160020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084832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1396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2587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m/z 78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0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DBE=4  C=6  ratio=0.67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3136392"/>
            <a:ext cx="1097280" cy="384048"/>
          </a:xfrm>
          <a:prstGeom prst="roundRect">
            <a:avLst>
              <a:gd name="adj" fmla="val 16667"/>
            </a:avLst>
          </a:prstGeom>
          <a:solidFill>
            <a:srgbClr val="EF4444">
              <a:alpha val="6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136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FAIL*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With default ratio=0.5. Highly aromatic fragments need --max-ring-ratio 0.7+.  CLI: --no-hd-check to disable.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069080"/>
            <a:ext cx="8503920" cy="47548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069080"/>
            <a:ext cx="54864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87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--max-ring-ratio RATIO (default 0.5)   |   CLI: --no-hd-check to disable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Pretsch E. et al. Structure Determination of Organic Compounds, 4th ed. (2009) DOI:10.1007/978-3-540-93810-1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3 — Lewis &amp; Senior Valence Rules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06240" cy="19659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Valence Parity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(valenceᵢ × countᵢ)  must be EVEN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covalent bond uses 2 valence electrons. An odd total means no valid molecular graph can be constructed — the structure cannot exist.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160520" cy="19659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54864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Connectivity Minimum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26464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(valenceᵢ × countᵢ)  ≥  2 × (atom_count − 1)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graph of N nodes requires at least N−1 edges. Below this minimum, the atoms cannot form a single connected molecule.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5029200" cy="1188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5029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Table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01568"/>
          <a:ext cx="4892040" cy="749808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457200"/>
                <a:gridCol w="502920"/>
                <a:gridCol w="502920"/>
                <a:gridCol w="457200"/>
                <a:gridCol w="457200"/>
                <a:gridCol w="50292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0" y="3090672"/>
            <a:ext cx="3337560" cy="1188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0" y="3090672"/>
            <a:ext cx="33375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31638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CH₄O (methanol)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22376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Σval=10 (even) ≥ 8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138160" y="34198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7784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CH₃• (radical)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223760" y="36941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Σval=7 (odd)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138160" y="369417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R1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577840" y="3968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C₂H₂ (acetylene)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223760" y="39684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Σval=10 ≥ 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138160" y="39684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--no-lewis-senior to disable   |   Ref: Senior J.K. Am. J. Math. 73(3):663–689 (1951) DOI:10.2307/2372318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4 — Isotope Pattern Matching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64008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|theoretical % − observed %|  for M+1 and M+2   </a:t>
            </a:r>
            <a:pPr indent="0" marL="0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better.  Threshold: 30 pp  (--isotope-tolerance)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4206240" cy="21488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83080"/>
            <a:ext cx="420624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56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Isotope Contributors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30552"/>
          <a:ext cx="4069080" cy="1719072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731520"/>
                <a:gridCol w="1371600"/>
              </a:tblGrid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Abundance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¹³C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¹⁵N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²H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³⁴S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³⁷Cl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455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⁸¹Br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M+2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Br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1783080"/>
            <a:ext cx="4160520" cy="21488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783080"/>
            <a:ext cx="54864" cy="2148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1856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00600" y="2130552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C₆H₅Cl (chlorobenzene, M=112):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Theo M+2 = 32.5%  (³⁷Cl)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 M+2 = 5%  →  score = 27.5 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Borderline PASS (&lt; 30 pp)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C₈H₁₀N₄O₂ (caffeine, M=194):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Theo M+1 ≈ 9.4%  (8 × 1.1%)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 M+1 ≈ 10%  →  score = 0.6 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Excellent PASS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--no-isotope-score to disable  |  --isotope-tolerance PP  |  Ref: Gross J.H. Mass Spectrometry: A Textbook, 3rd ed. (2017) DOI:10.1007/978-3-319-54398-7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5 — Structural / SMILES Ring Constraints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758952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7589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Reject fragment if  </a:t>
            </a:r>
            <a:pPr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DBE_fragment  &gt;  parent_ring_count × 2 + 1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52704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 cannot have more rings than the parent. Ring count from V2000 MOL block: rings = bonds − atoms + 1 (cyclomatic number).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01952"/>
            <a:ext cx="4206240" cy="15087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01952"/>
            <a:ext cx="54864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— MOL Block Parser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7685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parse_mol_block_full() extracts: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Atom table (element, formal charge)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Bond table (a1, a2, bond type)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Adjacency graph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ring_count = |bonds| − |atoms| + 1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MOL block → filter skipped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901952"/>
            <a:ext cx="4160520" cy="15087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901952"/>
            <a:ext cx="54864" cy="1508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60520" cy="310896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2860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Cyclohexane (rings=1)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22860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DBE=2 ≤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22860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4160520" cy="310896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633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Cyclohexane (rings=1)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0" y="2633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DBE=3 &gt;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26334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980944"/>
            <a:ext cx="4160520" cy="310896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80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(rings=4)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2980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DBE=8 ≤ 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29809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328416"/>
            <a:ext cx="4160520" cy="310896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328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(rings=4)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3328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DBE=9 &gt; 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33284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--no-smiles-constraints to disable   |   Ref: Weininger D. J. Chem. Inf. Comput. Sci. 28(1):31–36 (1988) DOI:10.1021/ci00057a005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6 — RDKit Chemical Validation (Optional, default OFF)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Validate element symbols against the RDKit periodic table. Catches impossible symbols (‘Xx’, ‘R’, ‘D’) that slip through earlier filters due to data entry errors.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502920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55648"/>
            <a:ext cx="54864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9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4754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rdkit import Chem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 = Chem.GetPeriodicTable()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atomic_num = pt.GetAtomicNumber(symbol)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atomic_num == 0:  → FAIL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Graceful degradation: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rdkit-pypi not installed, filter 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silently skipped (returns True).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pip install rdkit-pypi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0" y="1755648"/>
            <a:ext cx="333756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755648"/>
            <a:ext cx="54864" cy="2331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8196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3337560" cy="420624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C₈H₁₀N₄O₂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95160" y="21488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known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75320" y="221284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2128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2624328"/>
            <a:ext cx="3337560" cy="420624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6243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C₆H₅Xx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6243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'Xx' unknown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75320" y="26883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6883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3099816"/>
            <a:ext cx="3337560" cy="420624"/>
          </a:xfrm>
          <a:prstGeom prst="rect">
            <a:avLst/>
          </a:prstGeom>
          <a:solidFill>
            <a:srgbClr val="0D1F2D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0998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C₃H₇D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95160" y="30998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'D' not std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75320" y="3163824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1638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3575304"/>
            <a:ext cx="3337560" cy="420624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5753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C₁₂H₂₂O₁₁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5753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Sucrose — OK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3639312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160520"/>
            <a:ext cx="8503920" cy="41148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16052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78808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OFF.  Enable with --rdkit.  Off by default to avoid requiring an optional heavy dependency on non-chem installs.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RDKit Open-source cheminformatics.  https://www.rdkit.org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Rules — Tier 1: Neutral Losses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47548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— works for any record, no 2-D structure needed. For each of 30+ tabulated losses: (1) parent contains all atoms, (2) fragment ion mass within tolerance.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6492240" cy="301752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3749040"/>
              </a:tblGrid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(Da)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18.010565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Alcohols, carboxylic acids, sugars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27.994915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Carbonyl groups, aromatic C=O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43.989829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Carboxylic acids, esters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17.026549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Amines, amides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35.976678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Organochlorines — pesticides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79.926160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Organobromines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27.010899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Aromatic N, nitriles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CH₃•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15.023475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Alpha-cleavage, methyl esters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CCl₃•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116.907378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DDT-type chloroalkanes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98.936978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Chlorophosphate pesticides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Si(CH₃)₃ (TMS)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73.046928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GC-MS silyl derivatives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321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63.961901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7AA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Sulfones, sulfoxides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949440" y="1600200"/>
            <a:ext cx="1874520" cy="30175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1600200"/>
            <a:ext cx="18745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1673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1965960"/>
            <a:ext cx="1691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C₈H₁₀N₄O₂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M⁺• = 194 Da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m/z 166: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194.080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− 27.995 (CO)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166.085 Da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[M−CO]⁺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C₇H₈N₄O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--fragmentation-rules  |  Ref: McLafferty &amp; Turecek (1993); Gross (2017); Budzikiewicz &amp; Grigsby J. Am. Soc. Mass Spectrom. 17:1161 (2006)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Rules — Tier 2: Structure-Based Cleavages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402336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parsed V2000 MOL block. Uses BFS connected-component analysis after virtual bond cleavage to enumerate fragment compositions.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0624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36192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Homolytic Cleavage (σ-bond)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every non-aromatic, non-ring single bond. Both fragments carry one radical electron.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054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CH₃−CH₂−OH  →  CH₃•  +  •CH₂OH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420624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0672"/>
            <a:ext cx="420624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Alpha (α) Cleavage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heteroatom (N, O, S, halogen): break adjacent C−C bond. Charge stays on heteroatom fragment.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0599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R−CO−CH₂R'  →  [R−C≡O]⁺  +  •CH₂R'  (acylium)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536192"/>
            <a:ext cx="420624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36192"/>
            <a:ext cx="420624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Inductive (i) Cleavage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9202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β-Bond cleavage directed by heteroatom induction. Charge migrates away from the heteroatom.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5054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R−X  →  R⁺  +  X•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90672"/>
            <a:ext cx="420624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90672"/>
            <a:ext cx="4206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McLafferty Rearrangement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474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C=O + α + β + γ-H pattern. H migrates from γ-C to O; α−β bond cleaves → enol 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405993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 pentanoate → [CH₂=CHOH]⁺ (m/z 60) + propene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--fragmentation-rules to enable (OFF by default).  Ref: McLafferty &amp; Turecek (1993); Gross (2017) Ch. 6; Budzikiewicz &amp; Grigsby (2006)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 — Best-First Ordering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74320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7592" y="1133856"/>
            <a:ext cx="713232" cy="713232"/>
          </a:xfrm>
          <a:prstGeom prst="ellipse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1133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" y="1892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Pass Status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filter_passed = True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before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filter_passed = False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Chemically valid structures always shown first.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74320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1133856"/>
            <a:ext cx="713232" cy="713232"/>
          </a:xfrm>
          <a:prstGeom prst="ellipse">
            <a:avLst/>
          </a:prstGeom>
          <a:solidFill>
            <a:srgbClr val="FB923C">
              <a:alpha val="7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1133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73552" y="1892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Accuracy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|delta_mass| = |ion_mass − nominal_mz|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absolute deviation wins. Closest mass match gets priority.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051560"/>
            <a:ext cx="274320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8312" y="1133856"/>
            <a:ext cx="713232" cy="713232"/>
          </a:xfrm>
          <a:prstGeom prst="ellipse">
            <a:avLst/>
          </a:prstGeom>
          <a:solidFill>
            <a:srgbClr val="FACC15">
              <a:alpha val="75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13385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53912" y="1892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 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286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|theo% − obs%|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M+1 and M+2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score = better isotope pattern agreement.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474720"/>
            <a:ext cx="4160520" cy="8229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74720"/>
            <a:ext cx="54864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--best-only Mode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top-ranked candidate per peak. Peaks where the best candidate still fails all filters are silently dropped from output.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4206240" cy="82296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474720"/>
            <a:ext cx="4206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387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example: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C₈H₁₀N₄O₂  194.0796 Da  Δ=+0.079  DBE=6.0  OK  [M−CO]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Modes — Fixed Da vs. Parts Per Million (ppm)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7731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20624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54864" cy="2331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 Mode (default)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 = constant Da  (e.g. ±0.5 Da)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--tolerance 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absolute window at every m/z.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conservative, forgiving.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Unit-mass EI instruments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(quadrupole, ion trap)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160520" cy="233172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54864" cy="2331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Mode (high-resolution)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4475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 = mz × ppm / 1,000,000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--ppm 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Per-peak window scales with m/z.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and more selective.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EI instruments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(Orbitrap, QTOF)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74720"/>
          <a:ext cx="8503920" cy="11430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2377440"/>
                <a:gridCol w="26517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 Da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 ppm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 is tighter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±0.000250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±0.000500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±0.001000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±0.002500 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ACC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--ppm and --tolerance are mutually exclusive flags.  Default is ±0.5 Da if neither is specified.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Filters &amp; Algorithms at a Glance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3017520"/>
        </p:xfrm>
        <a:graphic>
          <a:graphicData uri="http://schemas.openxmlformats.org/drawingml/2006/table">
            <a:tbl>
              <a:tblPr/>
              <a:tblGrid>
                <a:gridCol w="3566160"/>
                <a:gridCol w="1691640"/>
                <a:gridCol w="306324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/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by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Electron-mass correction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--electron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Branch-and-bound enumeration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DBE validity (≥0, ×0.5)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1: Nitrogen 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--no-nitrogen-rule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2: H-Deficiency (DBE/C)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--no-hd-check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3: Lewis &amp; Senior Valence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--no-lewis-senior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4: Isotope Pattern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--no-isotope-score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5: SMILES / Ring Constraints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--no-smiles-constraints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6: RDKit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7A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--rdkit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 Rules (Tier 1+2)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7A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--fragmentation-rules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ppm tolerance mode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7A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B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--ppm 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62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059936"/>
            <a:ext cx="8503920" cy="868680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4059936"/>
            <a:ext cx="85039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4133088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 </a:t>
            </a:r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McLafferty &amp; Turecek (1993)  ·  Pretsch et al. (2009) DOI:10.1007/978-3-540-93810-1  ·  Senior (1951) DOI:10.2307/2372318  ·  Gross (2017) DOI:10.1007/978-3-319-54398-7  ·  Weininger (1988) DOI:10.1021/ci00057a005  ·  Budzikiewicz &amp; Grigsby J. Am. Soc. Mass Spectrom. 17:1161 (2006)  ·  Land &amp; Doig (1960) DOI:10.2307/1910129  ·  RDKit: rdkit.org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28600" y="4956048"/>
            <a:ext cx="86868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4773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Fragment Exact-Mass Calculator  |  Python / Open Source  |  16/16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Fragment Exact-Mass Calculator — Algorithms &amp; Filters</dc:title>
  <dc:subject>PptxGenJS Presentation</dc:subject>
  <dc:creator>EI Fragment Calculator</dc:creator>
  <cp:lastModifiedBy>EI Fragment Calculator</cp:lastModifiedBy>
  <cp:revision>1</cp:revision>
  <dcterms:created xsi:type="dcterms:W3CDTF">2026-04-11T07:12:53Z</dcterms:created>
  <dcterms:modified xsi:type="dcterms:W3CDTF">2026-04-11T07:12:53Z</dcterms:modified>
</cp:coreProperties>
</file>